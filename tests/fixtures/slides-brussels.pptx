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en-GB" b="1"/>
              <a:t>Brussels I bis Regulation (EU) 1215/2012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rPr lang="en-GB"/>
              <a:t>Jurisdiction, recognition and enforcement in civil and commercial matters</a:t>
            </a:r>
          </a:p>
          <a:p>
            <a:r>
              <a:rPr lang="en-GB"/>
              <a:t>Applies from 10 January 2015 (Art. 81)</a:t>
            </a:r>
          </a:p>
          <a:p>
            <a:r>
              <a:rPr lang="en-GB"/>
              <a:t>Forum vs. applicable law: two different questions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en-GB" b="1"/>
              <a:t>Scope of application (Art. 1)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rPr lang="en-GB"/>
              <a:t>Civil and commercial matters, whatever the nature of the court</a:t>
            </a:r>
          </a:p>
          <a:p>
            <a:r>
              <a:rPr lang="en-GB"/>
              <a:t>Excluded: revenue, customs, administrative matters, acta iure imperii</a:t>
            </a:r>
          </a:p>
          <a:p>
            <a:r>
              <a:rPr lang="en-GB"/>
              <a:t>Also excluded: status of natural persons, matrimonial property, insolvency, arbitration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en-GB" b="1"/>
              <a:t>General rule: defendant's domicile (Art. 4)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rPr lang="en-GB"/>
              <a:t>Persons domiciled in a Member State are sued in the courts of that State</a:t>
            </a:r>
          </a:p>
          <a:p>
            <a:r>
              <a:rPr lang="en-GB"/>
              <a:t>Nationality is irrelevant: actor sequitur forum rei</a:t>
            </a:r>
          </a:p>
          <a:p>
            <a:r>
              <a:rPr lang="en-GB"/>
              <a:t>Domicile of companies: statutory seat, central administration or principal place of business (Art. 63)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en-GB" b="1"/>
              <a:t>Special jurisdiction (Art. 7)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rPr lang="en-GB"/>
              <a:t>Contract: place of performance of the obligation in question (Art. 7(1))</a:t>
            </a:r>
          </a:p>
          <a:p>
            <a:r>
              <a:rPr lang="en-GB"/>
              <a:t>Sale of goods: place of delivery; services: place where services were provided</a:t>
            </a:r>
          </a:p>
          <a:p>
            <a:r>
              <a:rPr lang="en-GB"/>
              <a:t>Tort: place where the harmful event occurred or may occur (Art. 7(2)) — Bier/Mines de potasse: event and damage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rPr lang="en-GB" b="1"/>
              <a:t>Exclusive jurisdiction and lis pendens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rPr lang="en-GB"/>
              <a:t>Art. 24: rights in rem in immovable property, company validity, public registers, IP registration, enforcement</a:t>
            </a:r>
          </a:p>
          <a:p>
            <a:r>
              <a:rPr lang="en-GB"/>
              <a:t>Art. 25: choice-of-court agreements (formal requirements)</a:t>
            </a:r>
          </a:p>
          <a:p>
            <a:r>
              <a:rPr lang="en-GB"/>
              <a:t>Art. 29: lis pendens — court first seised; Art. 31(2) exception for the chosen court</a:t>
            </a:r>
          </a:p>
        </p:txBody>
      </p:sp>
    </p:spTree>
  </p:cSld>
</p:sld>
</file>